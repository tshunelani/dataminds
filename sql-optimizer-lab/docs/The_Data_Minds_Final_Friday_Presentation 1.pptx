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60" autoAdjust="0"/>
  </p:normalViewPr>
  <p:slideViewPr>
    <p:cSldViewPr snapToGrid="0" snapToObjects="1">
      <p:cViewPr varScale="1">
        <p:scale>
          <a:sx n="58" d="100"/>
          <a:sy n="58" d="100"/>
        </p:scale>
        <p:origin x="11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268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 The problem we are solving is slow SQL queries and the time required to optimize them. When a query is slow, </a:t>
            </a:r>
            <a:r>
              <a:rPr lang="en-US" dirty="0"/>
              <a:t>we </a:t>
            </a:r>
            <a:r>
              <a:rPr dirty="0"/>
              <a:t>often have to investigate it, try rewrites, run those rewrites and compare the results. The challenge is that a rewrite that looks better is not necessarily faster on the real database. We built the SQL Optimization Workbench to address that problem. Move quickly to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 tuning is often a manual process. It consumes specialist effort, and suggestions alone are not enough. We need a way to test alternatives and produce measurable evidence. Keep this explanation under one minute.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workbench establishes the original query as a baseline, generates candidate alternatives, tests them repeatedly, compares the results and presents the best observed result. The goal is to shorten the path from a slow query to an evidence-backed decision.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Start with Demo SQLite, load the schema, show the original query, explain briefly what makes it inefficient, run optimization, show candidates being tested, then show the final result. Do not explain every backend feature while the demo is running.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actual values from the live run. Point out baseline, best observed execution time, improvement, SQL comparison and relevant plan signals. Say: The important point is that the system measured the candidates rather than assuming a rewrite would be faster.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value is faster investigation, evidence-based decisions and explainable changes. We are not replacing the DBA or engineer; we are making optimization faster, measurable and easier to validate. Then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502920"/>
            <a:ext cx="2743200" cy="2743200"/>
          </a:xfrm>
          <a:prstGeom prst="ellipse">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81160" y="-228600"/>
            <a:ext cx="2743200" cy="2743200"/>
          </a:xfrm>
          <a:prstGeom prst="ellipse">
            <a:avLst/>
          </a:prstGeom>
          <a:solidFill>
            <a:srgbClr val="28B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875520" y="45720"/>
            <a:ext cx="2743200" cy="2743200"/>
          </a:xfrm>
          <a:prstGeom prst="ellipse">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20261001-081457).png"/>
          <p:cNvPicPr>
            <a:picLocks noChangeAspect="1"/>
          </p:cNvPicPr>
          <p:nvPr/>
        </p:nvPicPr>
        <p:blipFill>
          <a:blip r:embed="rId3"/>
          <a:stretch>
            <a:fillRect/>
          </a:stretch>
        </p:blipFill>
        <p:spPr>
          <a:xfrm>
            <a:off x="6995160" y="2011680"/>
            <a:ext cx="4480560" cy="3364992"/>
          </a:xfrm>
          <a:prstGeom prst="rect">
            <a:avLst/>
          </a:prstGeom>
        </p:spPr>
      </p:pic>
      <p:sp>
        <p:nvSpPr>
          <p:cNvPr id="7" name="Rectangle 6"/>
          <p:cNvSpPr/>
          <p:nvPr/>
        </p:nvSpPr>
        <p:spPr>
          <a:xfrm>
            <a:off x="6995160" y="2011680"/>
            <a:ext cx="4480560" cy="3364992"/>
          </a:xfrm>
          <a:prstGeom prst="rect">
            <a:avLst/>
          </a:prstGeom>
          <a:noFill/>
          <a:ln w="254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868680"/>
            <a:ext cx="5715000" cy="1325880"/>
          </a:xfrm>
          <a:prstGeom prst="rect">
            <a:avLst/>
          </a:prstGeom>
          <a:noFill/>
        </p:spPr>
        <p:txBody>
          <a:bodyPr wrap="none">
            <a:spAutoFit/>
          </a:bodyPr>
          <a:lstStyle/>
          <a:p>
            <a:pPr>
              <a:defRPr sz="3500" b="1">
                <a:solidFill>
                  <a:srgbClr val="F8FAFC"/>
                </a:solidFill>
                <a:latin typeface="Aptos Display"/>
              </a:defRPr>
            </a:pPr>
            <a:r>
              <a:t>The Problem</a:t>
            </a:r>
            <a:br/>
            <a:r>
              <a:t>We Are Solving</a:t>
            </a:r>
          </a:p>
        </p:txBody>
      </p:sp>
      <p:sp>
        <p:nvSpPr>
          <p:cNvPr id="9" name="TextBox 8"/>
          <p:cNvSpPr txBox="1"/>
          <p:nvPr/>
        </p:nvSpPr>
        <p:spPr>
          <a:xfrm>
            <a:off x="768096" y="2514600"/>
            <a:ext cx="5577840" cy="1097280"/>
          </a:xfrm>
          <a:prstGeom prst="rect">
            <a:avLst/>
          </a:prstGeom>
          <a:noFill/>
        </p:spPr>
        <p:txBody>
          <a:bodyPr wrap="none">
            <a:spAutoFit/>
          </a:bodyPr>
          <a:lstStyle/>
          <a:p>
            <a:pPr>
              <a:defRPr sz="2100">
                <a:solidFill>
                  <a:srgbClr val="DAE7F7"/>
                </a:solidFill>
                <a:latin typeface="Aptos"/>
              </a:defRPr>
            </a:pPr>
            <a:r>
              <a:t>Slow SQL queries are difficult</a:t>
            </a:r>
            <a:br/>
            <a:r>
              <a:t>and time-consuming to optimize.</a:t>
            </a:r>
          </a:p>
        </p:txBody>
      </p:sp>
      <p:sp>
        <p:nvSpPr>
          <p:cNvPr id="10" name="TextBox 9"/>
          <p:cNvSpPr txBox="1"/>
          <p:nvPr/>
        </p:nvSpPr>
        <p:spPr>
          <a:xfrm>
            <a:off x="777240" y="4069080"/>
            <a:ext cx="5486400" cy="685800"/>
          </a:xfrm>
          <a:prstGeom prst="rect">
            <a:avLst/>
          </a:prstGeom>
          <a:noFill/>
        </p:spPr>
        <p:txBody>
          <a:bodyPr wrap="none">
            <a:spAutoFit/>
          </a:bodyPr>
          <a:lstStyle/>
          <a:p>
            <a:pPr>
              <a:defRPr sz="1600" b="1">
                <a:solidFill>
                  <a:srgbClr val="28B5C1"/>
                </a:solidFill>
                <a:latin typeface="Aptos"/>
              </a:defRPr>
            </a:pPr>
            <a:r>
              <a:t>Our solution: SQL Optimization Workbench</a:t>
            </a:r>
          </a:p>
        </p:txBody>
      </p:sp>
      <p:sp>
        <p:nvSpPr>
          <p:cNvPr id="11" name="TextBox 10"/>
          <p:cNvSpPr txBox="1"/>
          <p:nvPr/>
        </p:nvSpPr>
        <p:spPr>
          <a:xfrm>
            <a:off x="777240" y="6080760"/>
            <a:ext cx="5486400" cy="320040"/>
          </a:xfrm>
          <a:prstGeom prst="rect">
            <a:avLst/>
          </a:prstGeom>
          <a:noFill/>
        </p:spPr>
        <p:txBody>
          <a:bodyPr wrap="none">
            <a:spAutoFit/>
          </a:bodyPr>
          <a:lstStyle/>
          <a:p>
            <a:pPr>
              <a:defRPr sz="1000">
                <a:solidFill>
                  <a:srgbClr val="A3B6D0"/>
                </a:solidFill>
                <a:latin typeface="Aptos"/>
              </a:defRPr>
            </a:pPr>
            <a:r>
              <a:t>The Data Minds  •  Final Demonstration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C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566928"/>
          </a:xfrm>
          <a:prstGeom prst="rect">
            <a:avLst/>
          </a:prstGeom>
          <a:noFill/>
        </p:spPr>
        <p:txBody>
          <a:bodyPr wrap="none">
            <a:spAutoFit/>
          </a:bodyPr>
          <a:lstStyle/>
          <a:p>
            <a:pPr>
              <a:defRPr sz="2700" b="1">
                <a:solidFill>
                  <a:srgbClr val="0E1C34"/>
                </a:solidFill>
                <a:latin typeface="Aptos Display"/>
              </a:defRPr>
            </a:pPr>
            <a:r>
              <a:t>The problem we are solving</a:t>
            </a:r>
          </a:p>
        </p:txBody>
      </p:sp>
      <p:sp>
        <p:nvSpPr>
          <p:cNvPr id="5" name="TextBox 4"/>
          <p:cNvSpPr txBox="1"/>
          <p:nvPr/>
        </p:nvSpPr>
        <p:spPr>
          <a:xfrm>
            <a:off x="658368" y="932688"/>
            <a:ext cx="10607040" cy="365760"/>
          </a:xfrm>
          <a:prstGeom prst="rect">
            <a:avLst/>
          </a:prstGeom>
          <a:noFill/>
        </p:spPr>
        <p:txBody>
          <a:bodyPr wrap="none">
            <a:spAutoFit/>
          </a:bodyPr>
          <a:lstStyle/>
          <a:p>
            <a:pPr>
              <a:defRPr sz="1150">
                <a:solidFill>
                  <a:srgbClr val="67788E"/>
                </a:solidFill>
                <a:latin typeface="Aptos"/>
              </a:defRPr>
            </a:pPr>
            <a:r>
              <a:t>Why is SQL optimization difficult to validate?</a:t>
            </a:r>
          </a:p>
        </p:txBody>
      </p:sp>
      <p:sp>
        <p:nvSpPr>
          <p:cNvPr id="6" name="Rounded Rectangle 5"/>
          <p:cNvSpPr/>
          <p:nvPr/>
        </p:nvSpPr>
        <p:spPr>
          <a:xfrm>
            <a:off x="685800" y="1417320"/>
            <a:ext cx="10835640" cy="96012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64008" cy="960120"/>
          </a:xfrm>
          <a:prstGeom prst="rect">
            <a:avLst/>
          </a:prstGeom>
          <a:solidFill>
            <a:srgbClr val="C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581912"/>
            <a:ext cx="10451592" cy="384048"/>
          </a:xfrm>
          <a:prstGeom prst="rect">
            <a:avLst/>
          </a:prstGeom>
          <a:noFill/>
        </p:spPr>
        <p:txBody>
          <a:bodyPr wrap="none">
            <a:spAutoFit/>
          </a:bodyPr>
          <a:lstStyle/>
          <a:p>
            <a:pPr>
              <a:defRPr sz="1700" b="1">
                <a:solidFill>
                  <a:srgbClr val="0E1C34"/>
                </a:solidFill>
                <a:latin typeface="Aptos"/>
              </a:defRPr>
            </a:pPr>
            <a:r>
              <a:t>The manual process</a:t>
            </a:r>
          </a:p>
        </p:txBody>
      </p:sp>
      <p:sp>
        <p:nvSpPr>
          <p:cNvPr id="9" name="TextBox 8"/>
          <p:cNvSpPr txBox="1"/>
          <p:nvPr/>
        </p:nvSpPr>
        <p:spPr>
          <a:xfrm>
            <a:off x="896112" y="2039112"/>
            <a:ext cx="10424160" cy="210312"/>
          </a:xfrm>
          <a:prstGeom prst="rect">
            <a:avLst/>
          </a:prstGeom>
          <a:noFill/>
        </p:spPr>
        <p:txBody>
          <a:bodyPr wrap="none">
            <a:spAutoFit/>
          </a:bodyPr>
          <a:lstStyle/>
          <a:p>
            <a:pPr>
              <a:lnSpc>
                <a:spcPct val="105000"/>
              </a:lnSpc>
              <a:defRPr sz="1500">
                <a:solidFill>
                  <a:srgbClr val="1F2B3D"/>
                </a:solidFill>
                <a:latin typeface="Aptos"/>
              </a:defRPr>
            </a:pPr>
            <a:r>
              <a:t>Slow query  →  Investigate  →  Rewrite  →  Test  →  Compare  →  Decide</a:t>
            </a:r>
          </a:p>
        </p:txBody>
      </p:sp>
      <p:sp>
        <p:nvSpPr>
          <p:cNvPr id="10" name="Rounded Rectangle 9"/>
          <p:cNvSpPr/>
          <p:nvPr/>
        </p:nvSpPr>
        <p:spPr>
          <a:xfrm>
            <a:off x="685800" y="2697480"/>
            <a:ext cx="3383280" cy="20116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697480"/>
            <a:ext cx="64008" cy="2011680"/>
          </a:xfrm>
          <a:prstGeom prst="rect">
            <a:avLst/>
          </a:prstGeom>
          <a:solidFill>
            <a:srgbClr val="EF9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862072"/>
            <a:ext cx="2999232" cy="384048"/>
          </a:xfrm>
          <a:prstGeom prst="rect">
            <a:avLst/>
          </a:prstGeom>
          <a:noFill/>
        </p:spPr>
        <p:txBody>
          <a:bodyPr wrap="none">
            <a:spAutoFit/>
          </a:bodyPr>
          <a:lstStyle/>
          <a:p>
            <a:pPr>
              <a:defRPr sz="1700" b="1">
                <a:solidFill>
                  <a:srgbClr val="0E1C34"/>
                </a:solidFill>
                <a:latin typeface="Aptos"/>
              </a:defRPr>
            </a:pPr>
            <a:r>
              <a:t>Time and effort</a:t>
            </a:r>
          </a:p>
        </p:txBody>
      </p:sp>
      <p:sp>
        <p:nvSpPr>
          <p:cNvPr id="13" name="TextBox 12"/>
          <p:cNvSpPr txBox="1"/>
          <p:nvPr/>
        </p:nvSpPr>
        <p:spPr>
          <a:xfrm>
            <a:off x="896112" y="3319272"/>
            <a:ext cx="3190810" cy="474232"/>
          </a:xfrm>
          <a:prstGeom prst="rect">
            <a:avLst/>
          </a:prstGeom>
          <a:noFill/>
        </p:spPr>
        <p:txBody>
          <a:bodyPr wrap="none">
            <a:spAutoFit/>
          </a:bodyPr>
          <a:lstStyle/>
          <a:p>
            <a:pPr>
              <a:lnSpc>
                <a:spcPct val="105000"/>
              </a:lnSpc>
              <a:defRPr sz="1200">
                <a:solidFill>
                  <a:srgbClr val="1F2B3D"/>
                </a:solidFill>
                <a:latin typeface="Aptos"/>
              </a:defRPr>
            </a:pPr>
            <a:r>
              <a:rPr dirty="0"/>
              <a:t>Finding the cause of poor query performance </a:t>
            </a:r>
            <a:endParaRPr lang="en-US" dirty="0"/>
          </a:p>
          <a:p>
            <a:pPr>
              <a:lnSpc>
                <a:spcPct val="105000"/>
              </a:lnSpc>
              <a:defRPr sz="1200">
                <a:solidFill>
                  <a:srgbClr val="1F2B3D"/>
                </a:solidFill>
                <a:latin typeface="Aptos"/>
              </a:defRPr>
            </a:pPr>
            <a:r>
              <a:rPr dirty="0"/>
              <a:t>can require significant manual investigation.</a:t>
            </a:r>
          </a:p>
        </p:txBody>
      </p:sp>
      <p:sp>
        <p:nvSpPr>
          <p:cNvPr id="14" name="Rounded Rectangle 13"/>
          <p:cNvSpPr/>
          <p:nvPr/>
        </p:nvSpPr>
        <p:spPr>
          <a:xfrm>
            <a:off x="4389120" y="2697480"/>
            <a:ext cx="3383280" cy="20116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2697480"/>
            <a:ext cx="64008" cy="2011680"/>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9432" y="2862072"/>
            <a:ext cx="2999232" cy="384048"/>
          </a:xfrm>
          <a:prstGeom prst="rect">
            <a:avLst/>
          </a:prstGeom>
          <a:noFill/>
        </p:spPr>
        <p:txBody>
          <a:bodyPr wrap="none">
            <a:spAutoFit/>
          </a:bodyPr>
          <a:lstStyle/>
          <a:p>
            <a:pPr>
              <a:defRPr sz="1700" b="1">
                <a:solidFill>
                  <a:srgbClr val="0E1C34"/>
                </a:solidFill>
                <a:latin typeface="Aptos"/>
              </a:defRPr>
            </a:pPr>
            <a:r>
              <a:t>Uncertain rewrites</a:t>
            </a:r>
          </a:p>
        </p:txBody>
      </p:sp>
      <p:sp>
        <p:nvSpPr>
          <p:cNvPr id="17" name="TextBox 16"/>
          <p:cNvSpPr txBox="1"/>
          <p:nvPr/>
        </p:nvSpPr>
        <p:spPr>
          <a:xfrm>
            <a:off x="4599432" y="3319272"/>
            <a:ext cx="2953053" cy="474232"/>
          </a:xfrm>
          <a:prstGeom prst="rect">
            <a:avLst/>
          </a:prstGeom>
          <a:noFill/>
        </p:spPr>
        <p:txBody>
          <a:bodyPr wrap="none">
            <a:spAutoFit/>
          </a:bodyPr>
          <a:lstStyle/>
          <a:p>
            <a:pPr>
              <a:lnSpc>
                <a:spcPct val="105000"/>
              </a:lnSpc>
              <a:defRPr sz="1200">
                <a:solidFill>
                  <a:srgbClr val="1F2B3D"/>
                </a:solidFill>
                <a:latin typeface="Aptos"/>
              </a:defRPr>
            </a:pPr>
            <a:r>
              <a:rPr dirty="0"/>
              <a:t>A query rewrite that looks better is not </a:t>
            </a:r>
            <a:endParaRPr lang="en-US" dirty="0"/>
          </a:p>
          <a:p>
            <a:pPr>
              <a:lnSpc>
                <a:spcPct val="105000"/>
              </a:lnSpc>
              <a:defRPr sz="1200">
                <a:solidFill>
                  <a:srgbClr val="1F2B3D"/>
                </a:solidFill>
                <a:latin typeface="Aptos"/>
              </a:defRPr>
            </a:pPr>
            <a:r>
              <a:rPr dirty="0"/>
              <a:t>necessarily faster on the actual database.</a:t>
            </a:r>
          </a:p>
        </p:txBody>
      </p:sp>
      <p:sp>
        <p:nvSpPr>
          <p:cNvPr id="18" name="Rounded Rectangle 17"/>
          <p:cNvSpPr/>
          <p:nvPr/>
        </p:nvSpPr>
        <p:spPr>
          <a:xfrm>
            <a:off x="8092440" y="2697480"/>
            <a:ext cx="3383280" cy="20116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92440" y="2697480"/>
            <a:ext cx="64008" cy="2011680"/>
          </a:xfrm>
          <a:prstGeom prst="rect">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02752" y="2862072"/>
            <a:ext cx="2999232" cy="384048"/>
          </a:xfrm>
          <a:prstGeom prst="rect">
            <a:avLst/>
          </a:prstGeom>
          <a:noFill/>
        </p:spPr>
        <p:txBody>
          <a:bodyPr wrap="none">
            <a:spAutoFit/>
          </a:bodyPr>
          <a:lstStyle/>
          <a:p>
            <a:pPr>
              <a:defRPr sz="1700" b="1">
                <a:solidFill>
                  <a:srgbClr val="0E1C34"/>
                </a:solidFill>
                <a:latin typeface="Aptos"/>
              </a:defRPr>
            </a:pPr>
            <a:r>
              <a:t>Need for evidence</a:t>
            </a:r>
          </a:p>
        </p:txBody>
      </p:sp>
      <p:sp>
        <p:nvSpPr>
          <p:cNvPr id="21" name="TextBox 20"/>
          <p:cNvSpPr txBox="1"/>
          <p:nvPr/>
        </p:nvSpPr>
        <p:spPr>
          <a:xfrm>
            <a:off x="8302752" y="3319272"/>
            <a:ext cx="2572051" cy="668132"/>
          </a:xfrm>
          <a:prstGeom prst="rect">
            <a:avLst/>
          </a:prstGeom>
          <a:noFill/>
        </p:spPr>
        <p:txBody>
          <a:bodyPr wrap="none">
            <a:spAutoFit/>
          </a:bodyPr>
          <a:lstStyle/>
          <a:p>
            <a:pPr>
              <a:lnSpc>
                <a:spcPct val="105000"/>
              </a:lnSpc>
              <a:defRPr sz="1200">
                <a:solidFill>
                  <a:srgbClr val="1F2B3D"/>
                </a:solidFill>
                <a:latin typeface="Aptos"/>
              </a:defRPr>
            </a:pPr>
            <a:r>
              <a:rPr dirty="0"/>
              <a:t>Teams need measured results</a:t>
            </a:r>
            <a:r>
              <a:rPr lang="en-US" dirty="0"/>
              <a:t>, </a:t>
            </a:r>
            <a:r>
              <a:rPr dirty="0"/>
              <a:t>not </a:t>
            </a:r>
            <a:endParaRPr lang="en-US" dirty="0"/>
          </a:p>
          <a:p>
            <a:pPr>
              <a:lnSpc>
                <a:spcPct val="105000"/>
              </a:lnSpc>
              <a:defRPr sz="1200">
                <a:solidFill>
                  <a:srgbClr val="1F2B3D"/>
                </a:solidFill>
                <a:latin typeface="Aptos"/>
              </a:defRPr>
            </a:pPr>
            <a:r>
              <a:rPr dirty="0"/>
              <a:t>suggestions alone</a:t>
            </a:r>
            <a:r>
              <a:rPr lang="en-US" dirty="0"/>
              <a:t> </a:t>
            </a:r>
            <a:r>
              <a:rPr dirty="0"/>
              <a:t>to support the </a:t>
            </a:r>
            <a:endParaRPr lang="en-US" dirty="0"/>
          </a:p>
          <a:p>
            <a:pPr>
              <a:lnSpc>
                <a:spcPct val="105000"/>
              </a:lnSpc>
              <a:defRPr sz="1200">
                <a:solidFill>
                  <a:srgbClr val="1F2B3D"/>
                </a:solidFill>
                <a:latin typeface="Aptos"/>
              </a:defRPr>
            </a:pPr>
            <a:r>
              <a:rPr dirty="0"/>
              <a:t>optimization decision.</a:t>
            </a:r>
          </a:p>
        </p:txBody>
      </p:sp>
      <p:sp>
        <p:nvSpPr>
          <p:cNvPr id="22" name="Rounded Rectangle 21"/>
          <p:cNvSpPr/>
          <p:nvPr/>
        </p:nvSpPr>
        <p:spPr>
          <a:xfrm>
            <a:off x="1920240" y="5166360"/>
            <a:ext cx="8366760" cy="713232"/>
          </a:xfrm>
          <a:prstGeom prst="roundRect">
            <a:avLst/>
          </a:prstGeom>
          <a:solidFill>
            <a:srgbClr val="0E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48840" y="5358384"/>
            <a:ext cx="7909560" cy="320040"/>
          </a:xfrm>
          <a:prstGeom prst="rect">
            <a:avLst/>
          </a:prstGeom>
          <a:noFill/>
        </p:spPr>
        <p:txBody>
          <a:bodyPr wrap="none">
            <a:spAutoFit/>
          </a:bodyPr>
          <a:lstStyle/>
          <a:p>
            <a:pPr algn="ctr">
              <a:defRPr sz="1400" b="1">
                <a:solidFill>
                  <a:srgbClr val="F8FAFC"/>
                </a:solidFill>
                <a:latin typeface="Aptos"/>
              </a:defRPr>
            </a:pPr>
            <a:r>
              <a:t>The challenge: prove that the change actually improves performance.</a:t>
            </a:r>
          </a:p>
        </p:txBody>
      </p:sp>
      <p:sp>
        <p:nvSpPr>
          <p:cNvPr id="24" name="Rectangle 23"/>
          <p:cNvSpPr/>
          <p:nvPr/>
        </p:nvSpPr>
        <p:spPr>
          <a:xfrm>
            <a:off x="640080" y="6473952"/>
            <a:ext cx="10927080" cy="9144"/>
          </a:xfrm>
          <a:prstGeom prst="rect">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6519672"/>
            <a:ext cx="10789920" cy="201168"/>
          </a:xfrm>
          <a:prstGeom prst="rect">
            <a:avLst/>
          </a:prstGeom>
          <a:noFill/>
        </p:spPr>
        <p:txBody>
          <a:bodyPr wrap="none">
            <a:spAutoFit/>
          </a:bodyPr>
          <a:lstStyle/>
          <a:p>
            <a:pPr>
              <a:defRPr sz="850">
                <a:solidFill>
                  <a:srgbClr val="67788E"/>
                </a:solidFill>
                <a:latin typeface="Aptos"/>
              </a:defRPr>
            </a:pPr>
            <a:r>
              <a:rPr dirty="0"/>
              <a:t>The Data Minds  •  SQL Optimization Workbench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566928"/>
          </a:xfrm>
          <a:prstGeom prst="rect">
            <a:avLst/>
          </a:prstGeom>
          <a:noFill/>
        </p:spPr>
        <p:txBody>
          <a:bodyPr wrap="none">
            <a:spAutoFit/>
          </a:bodyPr>
          <a:lstStyle/>
          <a:p>
            <a:pPr>
              <a:defRPr sz="2700" b="1">
                <a:solidFill>
                  <a:srgbClr val="0E1C34"/>
                </a:solidFill>
                <a:latin typeface="Aptos Display"/>
              </a:defRPr>
            </a:pPr>
            <a:r>
              <a:t>Our solution</a:t>
            </a:r>
          </a:p>
        </p:txBody>
      </p:sp>
      <p:sp>
        <p:nvSpPr>
          <p:cNvPr id="5" name="TextBox 4"/>
          <p:cNvSpPr txBox="1"/>
          <p:nvPr/>
        </p:nvSpPr>
        <p:spPr>
          <a:xfrm>
            <a:off x="658368" y="932688"/>
            <a:ext cx="10607040" cy="365760"/>
          </a:xfrm>
          <a:prstGeom prst="rect">
            <a:avLst/>
          </a:prstGeom>
          <a:noFill/>
        </p:spPr>
        <p:txBody>
          <a:bodyPr wrap="none">
            <a:spAutoFit/>
          </a:bodyPr>
          <a:lstStyle/>
          <a:p>
            <a:pPr>
              <a:defRPr sz="1150">
                <a:solidFill>
                  <a:srgbClr val="67788E"/>
                </a:solidFill>
                <a:latin typeface="Aptos"/>
              </a:defRPr>
            </a:pPr>
            <a:r>
              <a:t>SQL Optimization Workbench</a:t>
            </a:r>
          </a:p>
        </p:txBody>
      </p:sp>
      <p:sp>
        <p:nvSpPr>
          <p:cNvPr id="6" name="TextBox 5"/>
          <p:cNvSpPr txBox="1"/>
          <p:nvPr/>
        </p:nvSpPr>
        <p:spPr>
          <a:xfrm>
            <a:off x="914400" y="1417320"/>
            <a:ext cx="10332720" cy="914400"/>
          </a:xfrm>
          <a:prstGeom prst="rect">
            <a:avLst/>
          </a:prstGeom>
          <a:noFill/>
        </p:spPr>
        <p:txBody>
          <a:bodyPr wrap="none">
            <a:spAutoFit/>
          </a:bodyPr>
          <a:lstStyle/>
          <a:p>
            <a:pPr algn="ctr">
              <a:defRPr sz="2500" b="1">
                <a:solidFill>
                  <a:srgbClr val="0E1C34"/>
                </a:solidFill>
                <a:latin typeface="Aptos Display"/>
              </a:defRPr>
            </a:pPr>
            <a:r>
              <a:t>Test optimization candidates against a measured baseline.</a:t>
            </a:r>
          </a:p>
        </p:txBody>
      </p:sp>
      <p:sp>
        <p:nvSpPr>
          <p:cNvPr id="7" name="Oval 6"/>
          <p:cNvSpPr/>
          <p:nvPr/>
        </p:nvSpPr>
        <p:spPr>
          <a:xfrm>
            <a:off x="1143000" y="2788920"/>
            <a:ext cx="658368" cy="658368"/>
          </a:xfrm>
          <a:prstGeom prst="ellipse">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Aptos"/>
              </a:defRPr>
            </a:pPr>
            <a:r>
              <a:t>01</a:t>
            </a:r>
          </a:p>
        </p:txBody>
      </p:sp>
      <p:sp>
        <p:nvSpPr>
          <p:cNvPr id="8" name="TextBox 7"/>
          <p:cNvSpPr txBox="1"/>
          <p:nvPr/>
        </p:nvSpPr>
        <p:spPr>
          <a:xfrm>
            <a:off x="594360" y="3566160"/>
            <a:ext cx="1737360" cy="365760"/>
          </a:xfrm>
          <a:prstGeom prst="rect">
            <a:avLst/>
          </a:prstGeom>
          <a:noFill/>
        </p:spPr>
        <p:txBody>
          <a:bodyPr wrap="none">
            <a:spAutoFit/>
          </a:bodyPr>
          <a:lstStyle/>
          <a:p>
            <a:pPr algn="ctr">
              <a:defRPr sz="1400" b="1">
                <a:solidFill>
                  <a:srgbClr val="0E1C34"/>
                </a:solidFill>
                <a:latin typeface="Aptos"/>
              </a:defRPr>
            </a:pPr>
            <a:r>
              <a:t>Query</a:t>
            </a:r>
          </a:p>
        </p:txBody>
      </p:sp>
      <p:sp>
        <p:nvSpPr>
          <p:cNvPr id="9" name="Right Arrow 8"/>
          <p:cNvSpPr/>
          <p:nvPr/>
        </p:nvSpPr>
        <p:spPr>
          <a:xfrm>
            <a:off x="2194560" y="2999232"/>
            <a:ext cx="320040" cy="274320"/>
          </a:xfrm>
          <a:prstGeom prst="rightArrow">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063240" y="2788920"/>
            <a:ext cx="658368" cy="658368"/>
          </a:xfrm>
          <a:prstGeom prst="ellipse">
            <a:avLst/>
          </a:prstGeom>
          <a:solidFill>
            <a:srgbClr val="28B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Aptos"/>
              </a:defRPr>
            </a:pPr>
            <a:r>
              <a:t>02</a:t>
            </a:r>
          </a:p>
        </p:txBody>
      </p:sp>
      <p:sp>
        <p:nvSpPr>
          <p:cNvPr id="11" name="TextBox 10"/>
          <p:cNvSpPr txBox="1"/>
          <p:nvPr/>
        </p:nvSpPr>
        <p:spPr>
          <a:xfrm>
            <a:off x="2514600" y="3566160"/>
            <a:ext cx="1737360" cy="365760"/>
          </a:xfrm>
          <a:prstGeom prst="rect">
            <a:avLst/>
          </a:prstGeom>
          <a:noFill/>
        </p:spPr>
        <p:txBody>
          <a:bodyPr wrap="none">
            <a:spAutoFit/>
          </a:bodyPr>
          <a:lstStyle/>
          <a:p>
            <a:pPr algn="ctr">
              <a:defRPr sz="1400" b="1">
                <a:solidFill>
                  <a:srgbClr val="0E1C34"/>
                </a:solidFill>
                <a:latin typeface="Aptos"/>
              </a:defRPr>
            </a:pPr>
            <a:r>
              <a:t>Baseline</a:t>
            </a:r>
          </a:p>
        </p:txBody>
      </p:sp>
      <p:sp>
        <p:nvSpPr>
          <p:cNvPr id="12" name="Right Arrow 11"/>
          <p:cNvSpPr/>
          <p:nvPr/>
        </p:nvSpPr>
        <p:spPr>
          <a:xfrm>
            <a:off x="4114800" y="2999232"/>
            <a:ext cx="320040" cy="274320"/>
          </a:xfrm>
          <a:prstGeom prst="rightArrow">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983480" y="2788920"/>
            <a:ext cx="658368" cy="658368"/>
          </a:xfrm>
          <a:prstGeom prst="ellipse">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Aptos"/>
              </a:defRPr>
            </a:pPr>
            <a:r>
              <a:t>03</a:t>
            </a:r>
          </a:p>
        </p:txBody>
      </p:sp>
      <p:sp>
        <p:nvSpPr>
          <p:cNvPr id="14" name="TextBox 13"/>
          <p:cNvSpPr txBox="1"/>
          <p:nvPr/>
        </p:nvSpPr>
        <p:spPr>
          <a:xfrm>
            <a:off x="4434840" y="3566160"/>
            <a:ext cx="1737360" cy="365760"/>
          </a:xfrm>
          <a:prstGeom prst="rect">
            <a:avLst/>
          </a:prstGeom>
          <a:noFill/>
        </p:spPr>
        <p:txBody>
          <a:bodyPr wrap="none">
            <a:spAutoFit/>
          </a:bodyPr>
          <a:lstStyle/>
          <a:p>
            <a:pPr algn="ctr">
              <a:defRPr sz="1400" b="1">
                <a:solidFill>
                  <a:srgbClr val="0E1C34"/>
                </a:solidFill>
                <a:latin typeface="Aptos"/>
              </a:defRPr>
            </a:pPr>
            <a:r>
              <a:t>Candidates</a:t>
            </a:r>
          </a:p>
        </p:txBody>
      </p:sp>
      <p:sp>
        <p:nvSpPr>
          <p:cNvPr id="15" name="Right Arrow 14"/>
          <p:cNvSpPr/>
          <p:nvPr/>
        </p:nvSpPr>
        <p:spPr>
          <a:xfrm>
            <a:off x="6035040" y="2999232"/>
            <a:ext cx="320040" cy="274320"/>
          </a:xfrm>
          <a:prstGeom prst="rightArrow">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903720" y="2788920"/>
            <a:ext cx="658368" cy="658368"/>
          </a:xfrm>
          <a:prstGeom prst="ellipse">
            <a:avLst/>
          </a:prstGeom>
          <a:solidFill>
            <a:srgbClr val="EF9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Aptos"/>
              </a:defRPr>
            </a:pPr>
            <a:r>
              <a:t>04</a:t>
            </a:r>
          </a:p>
        </p:txBody>
      </p:sp>
      <p:sp>
        <p:nvSpPr>
          <p:cNvPr id="17" name="TextBox 16"/>
          <p:cNvSpPr txBox="1"/>
          <p:nvPr/>
        </p:nvSpPr>
        <p:spPr>
          <a:xfrm>
            <a:off x="6355080" y="3566160"/>
            <a:ext cx="1737360" cy="365760"/>
          </a:xfrm>
          <a:prstGeom prst="rect">
            <a:avLst/>
          </a:prstGeom>
          <a:noFill/>
        </p:spPr>
        <p:txBody>
          <a:bodyPr wrap="none">
            <a:spAutoFit/>
          </a:bodyPr>
          <a:lstStyle/>
          <a:p>
            <a:pPr algn="ctr">
              <a:defRPr sz="1400" b="1">
                <a:solidFill>
                  <a:srgbClr val="0E1C34"/>
                </a:solidFill>
                <a:latin typeface="Aptos"/>
              </a:defRPr>
            </a:pPr>
            <a:r>
              <a:t>Test</a:t>
            </a:r>
          </a:p>
        </p:txBody>
      </p:sp>
      <p:sp>
        <p:nvSpPr>
          <p:cNvPr id="18" name="Right Arrow 17"/>
          <p:cNvSpPr/>
          <p:nvPr/>
        </p:nvSpPr>
        <p:spPr>
          <a:xfrm>
            <a:off x="7955280" y="2999232"/>
            <a:ext cx="320040" cy="274320"/>
          </a:xfrm>
          <a:prstGeom prst="rightArrow">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23960" y="2788920"/>
            <a:ext cx="658368" cy="658368"/>
          </a:xfrm>
          <a:prstGeom prst="ellipse">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Aptos"/>
              </a:defRPr>
            </a:pPr>
            <a:r>
              <a:t>05</a:t>
            </a:r>
          </a:p>
        </p:txBody>
      </p:sp>
      <p:sp>
        <p:nvSpPr>
          <p:cNvPr id="20" name="TextBox 19"/>
          <p:cNvSpPr txBox="1"/>
          <p:nvPr/>
        </p:nvSpPr>
        <p:spPr>
          <a:xfrm>
            <a:off x="8275320" y="3566160"/>
            <a:ext cx="1737360" cy="365760"/>
          </a:xfrm>
          <a:prstGeom prst="rect">
            <a:avLst/>
          </a:prstGeom>
          <a:noFill/>
        </p:spPr>
        <p:txBody>
          <a:bodyPr wrap="none">
            <a:spAutoFit/>
          </a:bodyPr>
          <a:lstStyle/>
          <a:p>
            <a:pPr algn="ctr">
              <a:defRPr sz="1400" b="1">
                <a:solidFill>
                  <a:srgbClr val="0E1C34"/>
                </a:solidFill>
                <a:latin typeface="Aptos"/>
              </a:defRPr>
            </a:pPr>
            <a:r>
              <a:t>Compare</a:t>
            </a:r>
          </a:p>
        </p:txBody>
      </p:sp>
      <p:sp>
        <p:nvSpPr>
          <p:cNvPr id="21" name="Right Arrow 20"/>
          <p:cNvSpPr/>
          <p:nvPr/>
        </p:nvSpPr>
        <p:spPr>
          <a:xfrm>
            <a:off x="9875520" y="2999232"/>
            <a:ext cx="320040" cy="274320"/>
          </a:xfrm>
          <a:prstGeom prst="rightArrow">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744200" y="2788920"/>
            <a:ext cx="658368" cy="658368"/>
          </a:xfrm>
          <a:prstGeom prst="ellipse">
            <a:avLst/>
          </a:prstGeom>
          <a:solidFill>
            <a:srgbClr val="37A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Aptos"/>
              </a:defRPr>
            </a:pPr>
            <a:r>
              <a:t>06</a:t>
            </a:r>
          </a:p>
        </p:txBody>
      </p:sp>
      <p:sp>
        <p:nvSpPr>
          <p:cNvPr id="23" name="TextBox 22"/>
          <p:cNvSpPr txBox="1"/>
          <p:nvPr/>
        </p:nvSpPr>
        <p:spPr>
          <a:xfrm>
            <a:off x="10195560" y="3566160"/>
            <a:ext cx="1737360" cy="365760"/>
          </a:xfrm>
          <a:prstGeom prst="rect">
            <a:avLst/>
          </a:prstGeom>
          <a:noFill/>
        </p:spPr>
        <p:txBody>
          <a:bodyPr wrap="none">
            <a:spAutoFit/>
          </a:bodyPr>
          <a:lstStyle/>
          <a:p>
            <a:pPr algn="ctr">
              <a:defRPr sz="1400" b="1">
                <a:solidFill>
                  <a:srgbClr val="0E1C34"/>
                </a:solidFill>
                <a:latin typeface="Aptos"/>
              </a:defRPr>
            </a:pPr>
            <a:r>
              <a:t>Recommend</a:t>
            </a:r>
          </a:p>
        </p:txBody>
      </p:sp>
      <p:sp>
        <p:nvSpPr>
          <p:cNvPr id="24" name="Rounded Rectangle 23"/>
          <p:cNvSpPr/>
          <p:nvPr/>
        </p:nvSpPr>
        <p:spPr>
          <a:xfrm>
            <a:off x="960120" y="4572000"/>
            <a:ext cx="3063240" cy="96012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60120" y="4572000"/>
            <a:ext cx="64008" cy="960120"/>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70432" y="4736592"/>
            <a:ext cx="2679192" cy="384048"/>
          </a:xfrm>
          <a:prstGeom prst="rect">
            <a:avLst/>
          </a:prstGeom>
          <a:noFill/>
        </p:spPr>
        <p:txBody>
          <a:bodyPr wrap="none">
            <a:spAutoFit/>
          </a:bodyPr>
          <a:lstStyle/>
          <a:p>
            <a:pPr>
              <a:defRPr sz="1400" b="1">
                <a:solidFill>
                  <a:srgbClr val="0E1C34"/>
                </a:solidFill>
                <a:latin typeface="Aptos"/>
              </a:defRPr>
            </a:pPr>
            <a:r>
              <a:t>Measure</a:t>
            </a:r>
          </a:p>
        </p:txBody>
      </p:sp>
      <p:sp>
        <p:nvSpPr>
          <p:cNvPr id="27" name="TextBox 26"/>
          <p:cNvSpPr txBox="1"/>
          <p:nvPr/>
        </p:nvSpPr>
        <p:spPr>
          <a:xfrm>
            <a:off x="1170432" y="5193792"/>
            <a:ext cx="2651760" cy="210312"/>
          </a:xfrm>
          <a:prstGeom prst="rect">
            <a:avLst/>
          </a:prstGeom>
          <a:noFill/>
        </p:spPr>
        <p:txBody>
          <a:bodyPr wrap="none">
            <a:spAutoFit/>
          </a:bodyPr>
          <a:lstStyle/>
          <a:p>
            <a:pPr>
              <a:lnSpc>
                <a:spcPct val="105000"/>
              </a:lnSpc>
              <a:defRPr sz="1050">
                <a:solidFill>
                  <a:srgbClr val="1F2B3D"/>
                </a:solidFill>
                <a:latin typeface="Aptos"/>
              </a:defRPr>
            </a:pPr>
            <a:r>
              <a:t>Establish the original query as the control.</a:t>
            </a:r>
          </a:p>
        </p:txBody>
      </p:sp>
      <p:sp>
        <p:nvSpPr>
          <p:cNvPr id="28" name="Rounded Rectangle 27"/>
          <p:cNvSpPr/>
          <p:nvPr/>
        </p:nvSpPr>
        <p:spPr>
          <a:xfrm>
            <a:off x="4526280" y="4572000"/>
            <a:ext cx="3063240" cy="96012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26280" y="4572000"/>
            <a:ext cx="64008" cy="960120"/>
          </a:xfrm>
          <a:prstGeom prst="rect">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36592" y="4736592"/>
            <a:ext cx="2679192" cy="384048"/>
          </a:xfrm>
          <a:prstGeom prst="rect">
            <a:avLst/>
          </a:prstGeom>
          <a:noFill/>
        </p:spPr>
        <p:txBody>
          <a:bodyPr wrap="none">
            <a:spAutoFit/>
          </a:bodyPr>
          <a:lstStyle/>
          <a:p>
            <a:pPr>
              <a:defRPr sz="1400" b="1">
                <a:solidFill>
                  <a:srgbClr val="0E1C34"/>
                </a:solidFill>
                <a:latin typeface="Aptos"/>
              </a:defRPr>
            </a:pPr>
            <a:r>
              <a:t>Compare</a:t>
            </a:r>
          </a:p>
        </p:txBody>
      </p:sp>
      <p:sp>
        <p:nvSpPr>
          <p:cNvPr id="31" name="TextBox 30"/>
          <p:cNvSpPr txBox="1"/>
          <p:nvPr/>
        </p:nvSpPr>
        <p:spPr>
          <a:xfrm>
            <a:off x="4736592" y="5193792"/>
            <a:ext cx="2651760" cy="210312"/>
          </a:xfrm>
          <a:prstGeom prst="rect">
            <a:avLst/>
          </a:prstGeom>
          <a:noFill/>
        </p:spPr>
        <p:txBody>
          <a:bodyPr wrap="none">
            <a:spAutoFit/>
          </a:bodyPr>
          <a:lstStyle/>
          <a:p>
            <a:pPr>
              <a:lnSpc>
                <a:spcPct val="105000"/>
              </a:lnSpc>
              <a:defRPr sz="1050">
                <a:solidFill>
                  <a:srgbClr val="1F2B3D"/>
                </a:solidFill>
                <a:latin typeface="Aptos"/>
              </a:defRPr>
            </a:pPr>
            <a:r>
              <a:t>Run candidates and identify the best observed result.</a:t>
            </a:r>
          </a:p>
        </p:txBody>
      </p:sp>
      <p:sp>
        <p:nvSpPr>
          <p:cNvPr id="32" name="Rounded Rectangle 31"/>
          <p:cNvSpPr/>
          <p:nvPr/>
        </p:nvSpPr>
        <p:spPr>
          <a:xfrm>
            <a:off x="8092440" y="4572000"/>
            <a:ext cx="3063240" cy="96012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92440" y="4572000"/>
            <a:ext cx="64008" cy="960120"/>
          </a:xfrm>
          <a:prstGeom prst="rect">
            <a:avLst/>
          </a:prstGeom>
          <a:solidFill>
            <a:srgbClr val="EF9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02752" y="4736592"/>
            <a:ext cx="2679192" cy="384048"/>
          </a:xfrm>
          <a:prstGeom prst="rect">
            <a:avLst/>
          </a:prstGeom>
          <a:noFill/>
        </p:spPr>
        <p:txBody>
          <a:bodyPr wrap="none">
            <a:spAutoFit/>
          </a:bodyPr>
          <a:lstStyle/>
          <a:p>
            <a:pPr>
              <a:defRPr sz="1400" b="1">
                <a:solidFill>
                  <a:srgbClr val="0E1C34"/>
                </a:solidFill>
                <a:latin typeface="Aptos"/>
              </a:defRPr>
            </a:pPr>
            <a:r>
              <a:t>Explain</a:t>
            </a:r>
          </a:p>
        </p:txBody>
      </p:sp>
      <p:sp>
        <p:nvSpPr>
          <p:cNvPr id="35" name="TextBox 34"/>
          <p:cNvSpPr txBox="1"/>
          <p:nvPr/>
        </p:nvSpPr>
        <p:spPr>
          <a:xfrm>
            <a:off x="8302752" y="5193792"/>
            <a:ext cx="2651760" cy="210312"/>
          </a:xfrm>
          <a:prstGeom prst="rect">
            <a:avLst/>
          </a:prstGeom>
          <a:noFill/>
        </p:spPr>
        <p:txBody>
          <a:bodyPr wrap="none">
            <a:spAutoFit/>
          </a:bodyPr>
          <a:lstStyle/>
          <a:p>
            <a:pPr>
              <a:lnSpc>
                <a:spcPct val="105000"/>
              </a:lnSpc>
              <a:defRPr sz="1050">
                <a:solidFill>
                  <a:srgbClr val="1F2B3D"/>
                </a:solidFill>
                <a:latin typeface="Aptos"/>
              </a:defRPr>
            </a:pPr>
            <a:r>
              <a:t>Show what changed and why it is worth reviewing.</a:t>
            </a:r>
          </a:p>
        </p:txBody>
      </p:sp>
      <p:sp>
        <p:nvSpPr>
          <p:cNvPr id="36" name="Rectangle 35"/>
          <p:cNvSpPr/>
          <p:nvPr/>
        </p:nvSpPr>
        <p:spPr>
          <a:xfrm>
            <a:off x="640080" y="6473952"/>
            <a:ext cx="10927080" cy="9144"/>
          </a:xfrm>
          <a:prstGeom prst="rect">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 y="6519672"/>
            <a:ext cx="10789920" cy="201168"/>
          </a:xfrm>
          <a:prstGeom prst="rect">
            <a:avLst/>
          </a:prstGeom>
          <a:noFill/>
        </p:spPr>
        <p:txBody>
          <a:bodyPr wrap="none">
            <a:spAutoFit/>
          </a:bodyPr>
          <a:lstStyle/>
          <a:p>
            <a:pPr>
              <a:defRPr sz="850">
                <a:solidFill>
                  <a:srgbClr val="67788E"/>
                </a:solidFill>
                <a:latin typeface="Aptos"/>
              </a:defRPr>
            </a:pPr>
            <a:r>
              <a:t>The Data Minds  •  SQL Optimization Workbench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8B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566928"/>
          </a:xfrm>
          <a:prstGeom prst="rect">
            <a:avLst/>
          </a:prstGeom>
          <a:noFill/>
        </p:spPr>
        <p:txBody>
          <a:bodyPr wrap="none">
            <a:spAutoFit/>
          </a:bodyPr>
          <a:lstStyle/>
          <a:p>
            <a:pPr>
              <a:defRPr sz="2700" b="1">
                <a:solidFill>
                  <a:srgbClr val="0E1C34"/>
                </a:solidFill>
                <a:latin typeface="Aptos Display"/>
              </a:defRPr>
            </a:pPr>
            <a:r>
              <a:t>Let's see it in action</a:t>
            </a:r>
          </a:p>
        </p:txBody>
      </p:sp>
      <p:sp>
        <p:nvSpPr>
          <p:cNvPr id="5" name="TextBox 4"/>
          <p:cNvSpPr txBox="1"/>
          <p:nvPr/>
        </p:nvSpPr>
        <p:spPr>
          <a:xfrm>
            <a:off x="658368" y="932688"/>
            <a:ext cx="10607040" cy="365760"/>
          </a:xfrm>
          <a:prstGeom prst="rect">
            <a:avLst/>
          </a:prstGeom>
          <a:noFill/>
        </p:spPr>
        <p:txBody>
          <a:bodyPr wrap="none">
            <a:spAutoFit/>
          </a:bodyPr>
          <a:lstStyle/>
          <a:p>
            <a:pPr>
              <a:defRPr sz="1150">
                <a:solidFill>
                  <a:srgbClr val="67788E"/>
                </a:solidFill>
                <a:latin typeface="Aptos"/>
              </a:defRPr>
            </a:pPr>
            <a:r>
              <a:t>Live demonstration: from query to measured result</a:t>
            </a:r>
          </a:p>
        </p:txBody>
      </p:sp>
      <p:sp>
        <p:nvSpPr>
          <p:cNvPr id="6" name="Rounded Rectangle 5"/>
          <p:cNvSpPr/>
          <p:nvPr/>
        </p:nvSpPr>
        <p:spPr>
          <a:xfrm>
            <a:off x="594360" y="1508760"/>
            <a:ext cx="1993392"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508760"/>
            <a:ext cx="64008" cy="1508760"/>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673351"/>
            <a:ext cx="1609344" cy="384048"/>
          </a:xfrm>
          <a:prstGeom prst="rect">
            <a:avLst/>
          </a:prstGeom>
          <a:noFill/>
        </p:spPr>
        <p:txBody>
          <a:bodyPr wrap="none">
            <a:spAutoFit/>
          </a:bodyPr>
          <a:lstStyle/>
          <a:p>
            <a:pPr>
              <a:defRPr sz="1500" b="1">
                <a:solidFill>
                  <a:srgbClr val="0E1C34"/>
                </a:solidFill>
                <a:latin typeface="Aptos"/>
              </a:defRPr>
            </a:pPr>
            <a:r>
              <a:t>1. Connect</a:t>
            </a:r>
          </a:p>
        </p:txBody>
      </p:sp>
      <p:sp>
        <p:nvSpPr>
          <p:cNvPr id="9" name="TextBox 8"/>
          <p:cNvSpPr txBox="1"/>
          <p:nvPr/>
        </p:nvSpPr>
        <p:spPr>
          <a:xfrm>
            <a:off x="804672" y="2130552"/>
            <a:ext cx="1581912" cy="758952"/>
          </a:xfrm>
          <a:prstGeom prst="rect">
            <a:avLst/>
          </a:prstGeom>
          <a:noFill/>
        </p:spPr>
        <p:txBody>
          <a:bodyPr wrap="none">
            <a:spAutoFit/>
          </a:bodyPr>
          <a:lstStyle/>
          <a:p>
            <a:pPr>
              <a:lnSpc>
                <a:spcPct val="105000"/>
              </a:lnSpc>
              <a:defRPr sz="1100">
                <a:solidFill>
                  <a:srgbClr val="1F2B3D"/>
                </a:solidFill>
                <a:latin typeface="Aptos"/>
              </a:defRPr>
            </a:pPr>
            <a:r>
              <a:t>Demo SQLite</a:t>
            </a:r>
          </a:p>
        </p:txBody>
      </p:sp>
      <p:sp>
        <p:nvSpPr>
          <p:cNvPr id="10" name="Rounded Rectangle 9"/>
          <p:cNvSpPr/>
          <p:nvPr/>
        </p:nvSpPr>
        <p:spPr>
          <a:xfrm>
            <a:off x="2898648" y="1508760"/>
            <a:ext cx="1993392"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98648" y="1508760"/>
            <a:ext cx="64008" cy="1508760"/>
          </a:xfrm>
          <a:prstGeom prst="rect">
            <a:avLst/>
          </a:prstGeom>
          <a:solidFill>
            <a:srgbClr val="28B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08960" y="1673351"/>
            <a:ext cx="1609344" cy="384048"/>
          </a:xfrm>
          <a:prstGeom prst="rect">
            <a:avLst/>
          </a:prstGeom>
          <a:noFill/>
        </p:spPr>
        <p:txBody>
          <a:bodyPr wrap="none">
            <a:spAutoFit/>
          </a:bodyPr>
          <a:lstStyle/>
          <a:p>
            <a:pPr>
              <a:defRPr sz="1500" b="1">
                <a:solidFill>
                  <a:srgbClr val="0E1C34"/>
                </a:solidFill>
                <a:latin typeface="Aptos"/>
              </a:defRPr>
            </a:pPr>
            <a:r>
              <a:t>2. Load</a:t>
            </a:r>
          </a:p>
        </p:txBody>
      </p:sp>
      <p:sp>
        <p:nvSpPr>
          <p:cNvPr id="13" name="TextBox 12"/>
          <p:cNvSpPr txBox="1"/>
          <p:nvPr/>
        </p:nvSpPr>
        <p:spPr>
          <a:xfrm>
            <a:off x="3108960" y="2130552"/>
            <a:ext cx="1581912" cy="758952"/>
          </a:xfrm>
          <a:prstGeom prst="rect">
            <a:avLst/>
          </a:prstGeom>
          <a:noFill/>
        </p:spPr>
        <p:txBody>
          <a:bodyPr wrap="none">
            <a:spAutoFit/>
          </a:bodyPr>
          <a:lstStyle/>
          <a:p>
            <a:pPr>
              <a:lnSpc>
                <a:spcPct val="105000"/>
              </a:lnSpc>
              <a:defRPr sz="1100">
                <a:solidFill>
                  <a:srgbClr val="1F2B3D"/>
                </a:solidFill>
                <a:latin typeface="Aptos"/>
              </a:defRPr>
            </a:pPr>
            <a:r>
              <a:t>Schema + indexes</a:t>
            </a:r>
          </a:p>
        </p:txBody>
      </p:sp>
      <p:sp>
        <p:nvSpPr>
          <p:cNvPr id="14" name="Rounded Rectangle 13"/>
          <p:cNvSpPr/>
          <p:nvPr/>
        </p:nvSpPr>
        <p:spPr>
          <a:xfrm>
            <a:off x="5202936" y="1508760"/>
            <a:ext cx="1993392"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02936" y="1508760"/>
            <a:ext cx="64008" cy="1508760"/>
          </a:xfrm>
          <a:prstGeom prst="rect">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13248" y="1673351"/>
            <a:ext cx="1609344" cy="384048"/>
          </a:xfrm>
          <a:prstGeom prst="rect">
            <a:avLst/>
          </a:prstGeom>
          <a:noFill/>
        </p:spPr>
        <p:txBody>
          <a:bodyPr wrap="none">
            <a:spAutoFit/>
          </a:bodyPr>
          <a:lstStyle/>
          <a:p>
            <a:pPr>
              <a:defRPr sz="1500" b="1">
                <a:solidFill>
                  <a:srgbClr val="0E1C34"/>
                </a:solidFill>
                <a:latin typeface="Aptos"/>
              </a:defRPr>
            </a:pPr>
            <a:r>
              <a:t>3. Run</a:t>
            </a:r>
          </a:p>
        </p:txBody>
      </p:sp>
      <p:sp>
        <p:nvSpPr>
          <p:cNvPr id="17" name="TextBox 16"/>
          <p:cNvSpPr txBox="1"/>
          <p:nvPr/>
        </p:nvSpPr>
        <p:spPr>
          <a:xfrm>
            <a:off x="5413248" y="2130552"/>
            <a:ext cx="1581912" cy="758952"/>
          </a:xfrm>
          <a:prstGeom prst="rect">
            <a:avLst/>
          </a:prstGeom>
          <a:noFill/>
        </p:spPr>
        <p:txBody>
          <a:bodyPr wrap="none">
            <a:spAutoFit/>
          </a:bodyPr>
          <a:lstStyle/>
          <a:p>
            <a:pPr>
              <a:lnSpc>
                <a:spcPct val="105000"/>
              </a:lnSpc>
              <a:defRPr sz="1100">
                <a:solidFill>
                  <a:srgbClr val="1F2B3D"/>
                </a:solidFill>
                <a:latin typeface="Aptos"/>
              </a:defRPr>
            </a:pPr>
            <a:r>
              <a:t>Original query</a:t>
            </a:r>
          </a:p>
        </p:txBody>
      </p:sp>
      <p:sp>
        <p:nvSpPr>
          <p:cNvPr id="18" name="Rounded Rectangle 17"/>
          <p:cNvSpPr/>
          <p:nvPr/>
        </p:nvSpPr>
        <p:spPr>
          <a:xfrm>
            <a:off x="7507224" y="1508760"/>
            <a:ext cx="1993392"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07224" y="1508760"/>
            <a:ext cx="64008" cy="1508760"/>
          </a:xfrm>
          <a:prstGeom prst="rect">
            <a:avLst/>
          </a:prstGeom>
          <a:solidFill>
            <a:srgbClr val="EF9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17536" y="1673351"/>
            <a:ext cx="1609344" cy="384048"/>
          </a:xfrm>
          <a:prstGeom prst="rect">
            <a:avLst/>
          </a:prstGeom>
          <a:noFill/>
        </p:spPr>
        <p:txBody>
          <a:bodyPr wrap="none">
            <a:spAutoFit/>
          </a:bodyPr>
          <a:lstStyle/>
          <a:p>
            <a:pPr>
              <a:defRPr sz="1500" b="1">
                <a:solidFill>
                  <a:srgbClr val="0E1C34"/>
                </a:solidFill>
                <a:latin typeface="Aptos"/>
              </a:defRPr>
            </a:pPr>
            <a:r>
              <a:t>4. Optimize</a:t>
            </a:r>
          </a:p>
        </p:txBody>
      </p:sp>
      <p:sp>
        <p:nvSpPr>
          <p:cNvPr id="21" name="TextBox 20"/>
          <p:cNvSpPr txBox="1"/>
          <p:nvPr/>
        </p:nvSpPr>
        <p:spPr>
          <a:xfrm>
            <a:off x="7717536" y="2130552"/>
            <a:ext cx="1581912" cy="758952"/>
          </a:xfrm>
          <a:prstGeom prst="rect">
            <a:avLst/>
          </a:prstGeom>
          <a:noFill/>
        </p:spPr>
        <p:txBody>
          <a:bodyPr wrap="none">
            <a:spAutoFit/>
          </a:bodyPr>
          <a:lstStyle/>
          <a:p>
            <a:pPr>
              <a:lnSpc>
                <a:spcPct val="105000"/>
              </a:lnSpc>
              <a:defRPr sz="1100">
                <a:solidFill>
                  <a:srgbClr val="1F2B3D"/>
                </a:solidFill>
                <a:latin typeface="Aptos"/>
              </a:defRPr>
            </a:pPr>
            <a:r>
              <a:t>Test candidates</a:t>
            </a:r>
          </a:p>
        </p:txBody>
      </p:sp>
      <p:sp>
        <p:nvSpPr>
          <p:cNvPr id="22" name="Rounded Rectangle 21"/>
          <p:cNvSpPr/>
          <p:nvPr/>
        </p:nvSpPr>
        <p:spPr>
          <a:xfrm>
            <a:off x="9811512" y="1508760"/>
            <a:ext cx="1993392"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811512" y="1508760"/>
            <a:ext cx="64008" cy="1508760"/>
          </a:xfrm>
          <a:prstGeom prst="rect">
            <a:avLst/>
          </a:prstGeom>
          <a:solidFill>
            <a:srgbClr val="37A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21824" y="1673351"/>
            <a:ext cx="1609344" cy="384048"/>
          </a:xfrm>
          <a:prstGeom prst="rect">
            <a:avLst/>
          </a:prstGeom>
          <a:noFill/>
        </p:spPr>
        <p:txBody>
          <a:bodyPr wrap="none">
            <a:spAutoFit/>
          </a:bodyPr>
          <a:lstStyle/>
          <a:p>
            <a:pPr>
              <a:defRPr sz="1500" b="1">
                <a:solidFill>
                  <a:srgbClr val="0E1C34"/>
                </a:solidFill>
                <a:latin typeface="Aptos"/>
              </a:defRPr>
            </a:pPr>
            <a:r>
              <a:t>5. Review</a:t>
            </a:r>
          </a:p>
        </p:txBody>
      </p:sp>
      <p:sp>
        <p:nvSpPr>
          <p:cNvPr id="25" name="TextBox 24"/>
          <p:cNvSpPr txBox="1"/>
          <p:nvPr/>
        </p:nvSpPr>
        <p:spPr>
          <a:xfrm>
            <a:off x="10021824" y="2130552"/>
            <a:ext cx="1581912" cy="758952"/>
          </a:xfrm>
          <a:prstGeom prst="rect">
            <a:avLst/>
          </a:prstGeom>
          <a:noFill/>
        </p:spPr>
        <p:txBody>
          <a:bodyPr wrap="none">
            <a:spAutoFit/>
          </a:bodyPr>
          <a:lstStyle/>
          <a:p>
            <a:pPr>
              <a:lnSpc>
                <a:spcPct val="105000"/>
              </a:lnSpc>
              <a:defRPr sz="1100">
                <a:solidFill>
                  <a:srgbClr val="1F2B3D"/>
                </a:solidFill>
                <a:latin typeface="Aptos"/>
              </a:defRPr>
            </a:pPr>
            <a:r>
              <a:t>Compare results</a:t>
            </a:r>
          </a:p>
        </p:txBody>
      </p:sp>
      <p:sp>
        <p:nvSpPr>
          <p:cNvPr id="26" name="Rounded Rectangle 25"/>
          <p:cNvSpPr/>
          <p:nvPr/>
        </p:nvSpPr>
        <p:spPr>
          <a:xfrm>
            <a:off x="822960" y="3474720"/>
            <a:ext cx="5074920"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2960" y="3474720"/>
            <a:ext cx="64008" cy="1508760"/>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33272" y="3639312"/>
            <a:ext cx="4690872" cy="384048"/>
          </a:xfrm>
          <a:prstGeom prst="rect">
            <a:avLst/>
          </a:prstGeom>
          <a:noFill/>
        </p:spPr>
        <p:txBody>
          <a:bodyPr wrap="none">
            <a:spAutoFit/>
          </a:bodyPr>
          <a:lstStyle/>
          <a:p>
            <a:pPr>
              <a:defRPr sz="1700" b="1">
                <a:solidFill>
                  <a:srgbClr val="0E1C34"/>
                </a:solidFill>
                <a:latin typeface="Aptos"/>
              </a:defRPr>
            </a:pPr>
            <a:r>
              <a:t>What we watch</a:t>
            </a:r>
          </a:p>
        </p:txBody>
      </p:sp>
      <p:sp>
        <p:nvSpPr>
          <p:cNvPr id="29" name="TextBox 28"/>
          <p:cNvSpPr txBox="1"/>
          <p:nvPr/>
        </p:nvSpPr>
        <p:spPr>
          <a:xfrm>
            <a:off x="1033272" y="4096511"/>
            <a:ext cx="4663440" cy="758952"/>
          </a:xfrm>
          <a:prstGeom prst="rect">
            <a:avLst/>
          </a:prstGeom>
          <a:noFill/>
        </p:spPr>
        <p:txBody>
          <a:bodyPr wrap="none">
            <a:spAutoFit/>
          </a:bodyPr>
          <a:lstStyle/>
          <a:p>
            <a:pPr>
              <a:lnSpc>
                <a:spcPct val="105000"/>
              </a:lnSpc>
              <a:defRPr sz="1200">
                <a:solidFill>
                  <a:srgbClr val="1F2B3D"/>
                </a:solidFill>
                <a:latin typeface="Aptos"/>
              </a:defRPr>
            </a:pPr>
            <a:r>
              <a:t>Baseline execution time</a:t>
            </a:r>
            <a:br/>
            <a:r>
              <a:t>Candidate execution time</a:t>
            </a:r>
            <a:br/>
            <a:r>
              <a:t>Best observed result</a:t>
            </a:r>
          </a:p>
        </p:txBody>
      </p:sp>
      <p:sp>
        <p:nvSpPr>
          <p:cNvPr id="30" name="Rounded Rectangle 29"/>
          <p:cNvSpPr/>
          <p:nvPr/>
        </p:nvSpPr>
        <p:spPr>
          <a:xfrm>
            <a:off x="6263640" y="3474720"/>
            <a:ext cx="5074920" cy="15087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474720"/>
            <a:ext cx="64008" cy="1508760"/>
          </a:xfrm>
          <a:prstGeom prst="rect">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73952" y="3639312"/>
            <a:ext cx="4690872" cy="384048"/>
          </a:xfrm>
          <a:prstGeom prst="rect">
            <a:avLst/>
          </a:prstGeom>
          <a:noFill/>
        </p:spPr>
        <p:txBody>
          <a:bodyPr wrap="none">
            <a:spAutoFit/>
          </a:bodyPr>
          <a:lstStyle/>
          <a:p>
            <a:pPr>
              <a:defRPr sz="1700" b="1">
                <a:solidFill>
                  <a:srgbClr val="0E1C34"/>
                </a:solidFill>
                <a:latin typeface="Aptos"/>
              </a:defRPr>
            </a:pPr>
            <a:r>
              <a:t>What we can explain</a:t>
            </a:r>
          </a:p>
        </p:txBody>
      </p:sp>
      <p:sp>
        <p:nvSpPr>
          <p:cNvPr id="33" name="TextBox 32"/>
          <p:cNvSpPr txBox="1"/>
          <p:nvPr/>
        </p:nvSpPr>
        <p:spPr>
          <a:xfrm>
            <a:off x="6473952" y="4096511"/>
            <a:ext cx="4663440" cy="758952"/>
          </a:xfrm>
          <a:prstGeom prst="rect">
            <a:avLst/>
          </a:prstGeom>
          <a:noFill/>
        </p:spPr>
        <p:txBody>
          <a:bodyPr wrap="none">
            <a:spAutoFit/>
          </a:bodyPr>
          <a:lstStyle/>
          <a:p>
            <a:pPr>
              <a:lnSpc>
                <a:spcPct val="105000"/>
              </a:lnSpc>
              <a:defRPr sz="1200">
                <a:solidFill>
                  <a:srgbClr val="1F2B3D"/>
                </a:solidFill>
                <a:latin typeface="Aptos"/>
              </a:defRPr>
            </a:pPr>
            <a:r>
              <a:t>Original vs. optimized SQL</a:t>
            </a:r>
            <a:br/>
            <a:r>
              <a:t>Performance history</a:t>
            </a:r>
            <a:br/>
            <a:r>
              <a:t>Plan signals where available</a:t>
            </a:r>
          </a:p>
        </p:txBody>
      </p:sp>
      <p:sp>
        <p:nvSpPr>
          <p:cNvPr id="34" name="Rounded Rectangle 33"/>
          <p:cNvSpPr/>
          <p:nvPr/>
        </p:nvSpPr>
        <p:spPr>
          <a:xfrm>
            <a:off x="1828800" y="5349240"/>
            <a:ext cx="8503920" cy="621792"/>
          </a:xfrm>
          <a:prstGeom prst="roundRect">
            <a:avLst/>
          </a:prstGeom>
          <a:solidFill>
            <a:srgbClr val="F1F7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40080" y="6473952"/>
            <a:ext cx="10927080" cy="9144"/>
          </a:xfrm>
          <a:prstGeom prst="rect">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 y="6519672"/>
            <a:ext cx="10789920" cy="201168"/>
          </a:xfrm>
          <a:prstGeom prst="rect">
            <a:avLst/>
          </a:prstGeom>
          <a:noFill/>
        </p:spPr>
        <p:txBody>
          <a:bodyPr wrap="none">
            <a:spAutoFit/>
          </a:bodyPr>
          <a:lstStyle/>
          <a:p>
            <a:pPr>
              <a:defRPr sz="850">
                <a:solidFill>
                  <a:srgbClr val="67788E"/>
                </a:solidFill>
                <a:latin typeface="Aptos"/>
              </a:defRPr>
            </a:pPr>
            <a:r>
              <a:t>The Data Minds  •  SQL Optimization Workbench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37A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566928"/>
          </a:xfrm>
          <a:prstGeom prst="rect">
            <a:avLst/>
          </a:prstGeom>
          <a:noFill/>
        </p:spPr>
        <p:txBody>
          <a:bodyPr wrap="none">
            <a:spAutoFit/>
          </a:bodyPr>
          <a:lstStyle/>
          <a:p>
            <a:pPr>
              <a:defRPr sz="2700" b="1">
                <a:solidFill>
                  <a:srgbClr val="0E1C34"/>
                </a:solidFill>
                <a:latin typeface="Aptos Display"/>
              </a:defRPr>
            </a:pPr>
            <a:r>
              <a:t>Did we actually improve the query?</a:t>
            </a:r>
          </a:p>
        </p:txBody>
      </p:sp>
      <p:sp>
        <p:nvSpPr>
          <p:cNvPr id="5" name="TextBox 4"/>
          <p:cNvSpPr txBox="1"/>
          <p:nvPr/>
        </p:nvSpPr>
        <p:spPr>
          <a:xfrm>
            <a:off x="658368" y="932688"/>
            <a:ext cx="10607040" cy="365760"/>
          </a:xfrm>
          <a:prstGeom prst="rect">
            <a:avLst/>
          </a:prstGeom>
          <a:noFill/>
        </p:spPr>
        <p:txBody>
          <a:bodyPr wrap="none">
            <a:spAutoFit/>
          </a:bodyPr>
          <a:lstStyle/>
          <a:p>
            <a:pPr>
              <a:defRPr sz="1150">
                <a:solidFill>
                  <a:srgbClr val="67788E"/>
                </a:solidFill>
                <a:latin typeface="Aptos"/>
              </a:defRPr>
            </a:pPr>
            <a:r>
              <a:t>The decision is based on observed performance evidence.</a:t>
            </a:r>
          </a:p>
        </p:txBody>
      </p:sp>
      <p:sp>
        <p:nvSpPr>
          <p:cNvPr id="6" name="Rounded Rectangle 5"/>
          <p:cNvSpPr/>
          <p:nvPr/>
        </p:nvSpPr>
        <p:spPr>
          <a:xfrm>
            <a:off x="685800" y="1371600"/>
            <a:ext cx="3383280" cy="13258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71600"/>
            <a:ext cx="64008" cy="1325880"/>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536192"/>
            <a:ext cx="2999232" cy="384048"/>
          </a:xfrm>
          <a:prstGeom prst="rect">
            <a:avLst/>
          </a:prstGeom>
          <a:noFill/>
        </p:spPr>
        <p:txBody>
          <a:bodyPr wrap="none">
            <a:spAutoFit/>
          </a:bodyPr>
          <a:lstStyle/>
          <a:p>
            <a:pPr>
              <a:defRPr sz="1700" b="1">
                <a:solidFill>
                  <a:srgbClr val="0E1C34"/>
                </a:solidFill>
                <a:latin typeface="Aptos"/>
              </a:defRPr>
            </a:pPr>
            <a:r>
              <a:t>Baseline</a:t>
            </a:r>
          </a:p>
        </p:txBody>
      </p:sp>
      <p:sp>
        <p:nvSpPr>
          <p:cNvPr id="9" name="TextBox 8"/>
          <p:cNvSpPr txBox="1"/>
          <p:nvPr/>
        </p:nvSpPr>
        <p:spPr>
          <a:xfrm>
            <a:off x="896112" y="1993392"/>
            <a:ext cx="2971800" cy="576072"/>
          </a:xfrm>
          <a:prstGeom prst="rect">
            <a:avLst/>
          </a:prstGeom>
          <a:noFill/>
        </p:spPr>
        <p:txBody>
          <a:bodyPr wrap="none">
            <a:spAutoFit/>
          </a:bodyPr>
          <a:lstStyle/>
          <a:p>
            <a:pPr>
              <a:lnSpc>
                <a:spcPct val="105000"/>
              </a:lnSpc>
              <a:defRPr sz="1100">
                <a:solidFill>
                  <a:srgbClr val="1F2B3D"/>
                </a:solidFill>
                <a:latin typeface="Aptos"/>
              </a:defRPr>
            </a:pPr>
            <a:r>
              <a:t>Original execution time</a:t>
            </a:r>
          </a:p>
        </p:txBody>
      </p:sp>
      <p:sp>
        <p:nvSpPr>
          <p:cNvPr id="10" name="Rounded Rectangle 9"/>
          <p:cNvSpPr/>
          <p:nvPr/>
        </p:nvSpPr>
        <p:spPr>
          <a:xfrm>
            <a:off x="4480560" y="1371600"/>
            <a:ext cx="3383280" cy="13258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1371600"/>
            <a:ext cx="64008" cy="1325880"/>
          </a:xfrm>
          <a:prstGeom prst="rect">
            <a:avLst/>
          </a:prstGeom>
          <a:solidFill>
            <a:srgbClr val="37A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90872" y="1536192"/>
            <a:ext cx="2999232" cy="384048"/>
          </a:xfrm>
          <a:prstGeom prst="rect">
            <a:avLst/>
          </a:prstGeom>
          <a:noFill/>
        </p:spPr>
        <p:txBody>
          <a:bodyPr wrap="none">
            <a:spAutoFit/>
          </a:bodyPr>
          <a:lstStyle/>
          <a:p>
            <a:pPr>
              <a:defRPr sz="1700" b="1">
                <a:solidFill>
                  <a:srgbClr val="0E1C34"/>
                </a:solidFill>
                <a:latin typeface="Aptos"/>
              </a:defRPr>
            </a:pPr>
            <a:r>
              <a:t>Best observed</a:t>
            </a:r>
          </a:p>
        </p:txBody>
      </p:sp>
      <p:sp>
        <p:nvSpPr>
          <p:cNvPr id="13" name="TextBox 12"/>
          <p:cNvSpPr txBox="1"/>
          <p:nvPr/>
        </p:nvSpPr>
        <p:spPr>
          <a:xfrm>
            <a:off x="4690872" y="1993392"/>
            <a:ext cx="2971800" cy="576072"/>
          </a:xfrm>
          <a:prstGeom prst="rect">
            <a:avLst/>
          </a:prstGeom>
          <a:noFill/>
        </p:spPr>
        <p:txBody>
          <a:bodyPr wrap="none">
            <a:spAutoFit/>
          </a:bodyPr>
          <a:lstStyle/>
          <a:p>
            <a:pPr>
              <a:lnSpc>
                <a:spcPct val="105000"/>
              </a:lnSpc>
              <a:defRPr sz="1100">
                <a:solidFill>
                  <a:srgbClr val="1F2B3D"/>
                </a:solidFill>
                <a:latin typeface="Aptos"/>
              </a:defRPr>
            </a:pPr>
            <a:r>
              <a:t>Fastest successful candidate</a:t>
            </a:r>
          </a:p>
        </p:txBody>
      </p:sp>
      <p:sp>
        <p:nvSpPr>
          <p:cNvPr id="14" name="Rounded Rectangle 13"/>
          <p:cNvSpPr/>
          <p:nvPr/>
        </p:nvSpPr>
        <p:spPr>
          <a:xfrm>
            <a:off x="8275320" y="1371600"/>
            <a:ext cx="3383280" cy="13258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371600"/>
            <a:ext cx="64008" cy="1325880"/>
          </a:xfrm>
          <a:prstGeom prst="rect">
            <a:avLst/>
          </a:prstGeom>
          <a:solidFill>
            <a:srgbClr val="EF9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85632" y="1536192"/>
            <a:ext cx="2999232" cy="384048"/>
          </a:xfrm>
          <a:prstGeom prst="rect">
            <a:avLst/>
          </a:prstGeom>
          <a:noFill/>
        </p:spPr>
        <p:txBody>
          <a:bodyPr wrap="none">
            <a:spAutoFit/>
          </a:bodyPr>
          <a:lstStyle/>
          <a:p>
            <a:pPr>
              <a:defRPr sz="1700" b="1">
                <a:solidFill>
                  <a:srgbClr val="0E1C34"/>
                </a:solidFill>
                <a:latin typeface="Aptos"/>
              </a:defRPr>
            </a:pPr>
            <a:r>
              <a:t>Improvement</a:t>
            </a:r>
          </a:p>
        </p:txBody>
      </p:sp>
      <p:sp>
        <p:nvSpPr>
          <p:cNvPr id="17" name="TextBox 16"/>
          <p:cNvSpPr txBox="1"/>
          <p:nvPr/>
        </p:nvSpPr>
        <p:spPr>
          <a:xfrm>
            <a:off x="8485632" y="1993392"/>
            <a:ext cx="2971800" cy="576072"/>
          </a:xfrm>
          <a:prstGeom prst="rect">
            <a:avLst/>
          </a:prstGeom>
          <a:noFill/>
        </p:spPr>
        <p:txBody>
          <a:bodyPr wrap="none">
            <a:spAutoFit/>
          </a:bodyPr>
          <a:lstStyle/>
          <a:p>
            <a:pPr>
              <a:lnSpc>
                <a:spcPct val="105000"/>
              </a:lnSpc>
              <a:defRPr sz="1100">
                <a:solidFill>
                  <a:srgbClr val="1F2B3D"/>
                </a:solidFill>
                <a:latin typeface="Aptos"/>
              </a:defRPr>
            </a:pPr>
            <a:r>
              <a:t>Change versus baseline</a:t>
            </a:r>
          </a:p>
        </p:txBody>
      </p:sp>
      <p:sp>
        <p:nvSpPr>
          <p:cNvPr id="18" name="Rounded Rectangle 17"/>
          <p:cNvSpPr/>
          <p:nvPr/>
        </p:nvSpPr>
        <p:spPr>
          <a:xfrm>
            <a:off x="685800" y="3063240"/>
            <a:ext cx="5257800" cy="224028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3063240"/>
            <a:ext cx="64008" cy="2240280"/>
          </a:xfrm>
          <a:prstGeom prst="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3227832"/>
            <a:ext cx="4873752" cy="384048"/>
          </a:xfrm>
          <a:prstGeom prst="rect">
            <a:avLst/>
          </a:prstGeom>
          <a:noFill/>
        </p:spPr>
        <p:txBody>
          <a:bodyPr wrap="none">
            <a:spAutoFit/>
          </a:bodyPr>
          <a:lstStyle/>
          <a:p>
            <a:pPr>
              <a:defRPr sz="1700" b="1">
                <a:solidFill>
                  <a:srgbClr val="0E1C34"/>
                </a:solidFill>
                <a:latin typeface="Aptos"/>
              </a:defRPr>
            </a:pPr>
            <a:r>
              <a:t>Performance history</a:t>
            </a:r>
          </a:p>
        </p:txBody>
      </p:sp>
      <p:sp>
        <p:nvSpPr>
          <p:cNvPr id="21" name="TextBox 20"/>
          <p:cNvSpPr txBox="1"/>
          <p:nvPr/>
        </p:nvSpPr>
        <p:spPr>
          <a:xfrm>
            <a:off x="896112" y="3685032"/>
            <a:ext cx="4846320" cy="1490472"/>
          </a:xfrm>
          <a:prstGeom prst="rect">
            <a:avLst/>
          </a:prstGeom>
          <a:noFill/>
        </p:spPr>
        <p:txBody>
          <a:bodyPr wrap="none">
            <a:spAutoFit/>
          </a:bodyPr>
          <a:lstStyle/>
          <a:p>
            <a:pPr>
              <a:lnSpc>
                <a:spcPct val="105000"/>
              </a:lnSpc>
              <a:defRPr sz="1200">
                <a:solidFill>
                  <a:srgbClr val="1F2B3D"/>
                </a:solidFill>
                <a:latin typeface="Aptos"/>
              </a:defRPr>
            </a:pPr>
            <a:r>
              <a:t>Show the actual runs from the live demo.</a:t>
            </a:r>
            <a:br/>
            <a:br/>
            <a:r>
              <a:t>Use the chart to explain consistency and identify outliers.</a:t>
            </a:r>
          </a:p>
        </p:txBody>
      </p:sp>
      <p:sp>
        <p:nvSpPr>
          <p:cNvPr id="22" name="Rounded Rectangle 21"/>
          <p:cNvSpPr/>
          <p:nvPr/>
        </p:nvSpPr>
        <p:spPr>
          <a:xfrm>
            <a:off x="6217920" y="3063240"/>
            <a:ext cx="5257800" cy="105156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063240"/>
            <a:ext cx="64008" cy="1051560"/>
          </a:xfrm>
          <a:prstGeom prst="rect">
            <a:avLst/>
          </a:prstGeom>
          <a:solidFill>
            <a:srgbClr val="1D9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28232" y="3227832"/>
            <a:ext cx="4873752" cy="384048"/>
          </a:xfrm>
          <a:prstGeom prst="rect">
            <a:avLst/>
          </a:prstGeom>
          <a:noFill/>
        </p:spPr>
        <p:txBody>
          <a:bodyPr wrap="none">
            <a:spAutoFit/>
          </a:bodyPr>
          <a:lstStyle/>
          <a:p>
            <a:pPr>
              <a:defRPr sz="1600" b="1">
                <a:solidFill>
                  <a:srgbClr val="0E1C34"/>
                </a:solidFill>
                <a:latin typeface="Aptos"/>
              </a:defRPr>
            </a:pPr>
            <a:r>
              <a:t>SQL comparison</a:t>
            </a:r>
          </a:p>
        </p:txBody>
      </p:sp>
      <p:sp>
        <p:nvSpPr>
          <p:cNvPr id="25" name="TextBox 24"/>
          <p:cNvSpPr txBox="1"/>
          <p:nvPr/>
        </p:nvSpPr>
        <p:spPr>
          <a:xfrm>
            <a:off x="6428232" y="3685032"/>
            <a:ext cx="4846320" cy="301751"/>
          </a:xfrm>
          <a:prstGeom prst="rect">
            <a:avLst/>
          </a:prstGeom>
          <a:noFill/>
        </p:spPr>
        <p:txBody>
          <a:bodyPr wrap="none">
            <a:spAutoFit/>
          </a:bodyPr>
          <a:lstStyle/>
          <a:p>
            <a:pPr>
              <a:lnSpc>
                <a:spcPct val="105000"/>
              </a:lnSpc>
              <a:defRPr sz="1100">
                <a:solidFill>
                  <a:srgbClr val="1F2B3D"/>
                </a:solidFill>
                <a:latin typeface="Aptos"/>
              </a:defRPr>
            </a:pPr>
            <a:r>
              <a:t>Original versus optimized SQL.</a:t>
            </a:r>
          </a:p>
        </p:txBody>
      </p:sp>
      <p:sp>
        <p:nvSpPr>
          <p:cNvPr id="26" name="Rounded Rectangle 25"/>
          <p:cNvSpPr/>
          <p:nvPr/>
        </p:nvSpPr>
        <p:spPr>
          <a:xfrm>
            <a:off x="6217920" y="4389120"/>
            <a:ext cx="5257800" cy="914400"/>
          </a:xfrm>
          <a:prstGeom prst="roundRect">
            <a:avLst/>
          </a:prstGeom>
          <a:solidFill>
            <a:srgbClr val="F8FAFC"/>
          </a:solidFill>
          <a:ln>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4389120"/>
            <a:ext cx="64008" cy="914400"/>
          </a:xfrm>
          <a:prstGeom prst="rect">
            <a:avLst/>
          </a:prstGeom>
          <a:solidFill>
            <a:srgbClr val="EF9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28232" y="4553712"/>
            <a:ext cx="4873752" cy="384048"/>
          </a:xfrm>
          <a:prstGeom prst="rect">
            <a:avLst/>
          </a:prstGeom>
          <a:noFill/>
        </p:spPr>
        <p:txBody>
          <a:bodyPr wrap="none">
            <a:spAutoFit/>
          </a:bodyPr>
          <a:lstStyle/>
          <a:p>
            <a:pPr>
              <a:defRPr sz="1600" b="1">
                <a:solidFill>
                  <a:srgbClr val="0E1C34"/>
                </a:solidFill>
                <a:latin typeface="Aptos"/>
              </a:defRPr>
            </a:pPr>
            <a:r>
              <a:t>Plan signals</a:t>
            </a:r>
          </a:p>
        </p:txBody>
      </p:sp>
      <p:sp>
        <p:nvSpPr>
          <p:cNvPr id="29" name="TextBox 28"/>
          <p:cNvSpPr txBox="1"/>
          <p:nvPr/>
        </p:nvSpPr>
        <p:spPr>
          <a:xfrm>
            <a:off x="6428232" y="5010912"/>
            <a:ext cx="4846320" cy="164592"/>
          </a:xfrm>
          <a:prstGeom prst="rect">
            <a:avLst/>
          </a:prstGeom>
          <a:noFill/>
        </p:spPr>
        <p:txBody>
          <a:bodyPr wrap="none">
            <a:spAutoFit/>
          </a:bodyPr>
          <a:lstStyle/>
          <a:p>
            <a:pPr>
              <a:lnSpc>
                <a:spcPct val="105000"/>
              </a:lnSpc>
              <a:defRPr sz="1100">
                <a:solidFill>
                  <a:srgbClr val="1F2B3D"/>
                </a:solidFill>
                <a:latin typeface="Aptos"/>
              </a:defRPr>
            </a:pPr>
            <a:r>
              <a:t>Cost, rows, scans, sorts and disk reads where available.</a:t>
            </a:r>
          </a:p>
        </p:txBody>
      </p:sp>
      <p:sp>
        <p:nvSpPr>
          <p:cNvPr id="31" name="Rectangle 30"/>
          <p:cNvSpPr/>
          <p:nvPr/>
        </p:nvSpPr>
        <p:spPr>
          <a:xfrm>
            <a:off x="640080" y="6473952"/>
            <a:ext cx="10927080" cy="9144"/>
          </a:xfrm>
          <a:prstGeom prst="rect">
            <a:avLst/>
          </a:prstGeom>
          <a:solidFill>
            <a:srgbClr val="D7E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6519672"/>
            <a:ext cx="10789920" cy="201168"/>
          </a:xfrm>
          <a:prstGeom prst="rect">
            <a:avLst/>
          </a:prstGeom>
          <a:noFill/>
        </p:spPr>
        <p:txBody>
          <a:bodyPr wrap="none">
            <a:spAutoFit/>
          </a:bodyPr>
          <a:lstStyle/>
          <a:p>
            <a:pPr>
              <a:defRPr sz="850">
                <a:solidFill>
                  <a:srgbClr val="67788E"/>
                </a:solidFill>
                <a:latin typeface="Aptos"/>
              </a:defRPr>
            </a:pPr>
            <a:r>
              <a:t>The Data Minds  •  SQL Optimization Workbench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20261001-081457).png"/>
          <p:cNvPicPr>
            <a:picLocks noChangeAspect="1"/>
          </p:cNvPicPr>
          <p:nvPr/>
        </p:nvPicPr>
        <p:blipFill>
          <a:blip r:embed="rId3"/>
          <a:stretch>
            <a:fillRect/>
          </a:stretch>
        </p:blipFill>
        <p:spPr>
          <a:xfrm>
            <a:off x="7635240" y="0"/>
            <a:ext cx="4553712" cy="6858000"/>
          </a:xfrm>
          <a:prstGeom prst="rect">
            <a:avLst/>
          </a:prstGeom>
        </p:spPr>
      </p:pic>
      <p:sp>
        <p:nvSpPr>
          <p:cNvPr id="4" name="Rectangle 3"/>
          <p:cNvSpPr/>
          <p:nvPr/>
        </p:nvSpPr>
        <p:spPr>
          <a:xfrm>
            <a:off x="7269480" y="0"/>
            <a:ext cx="4919472" cy="6858000"/>
          </a:xfrm>
          <a:prstGeom prst="rect">
            <a:avLst/>
          </a:prstGeom>
          <a:solidFill>
            <a:srgbClr val="0E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85800"/>
            <a:ext cx="6035040" cy="777240"/>
          </a:xfrm>
          <a:prstGeom prst="rect">
            <a:avLst/>
          </a:prstGeom>
          <a:noFill/>
        </p:spPr>
        <p:txBody>
          <a:bodyPr wrap="none">
            <a:spAutoFit/>
          </a:bodyPr>
          <a:lstStyle/>
          <a:p>
            <a:pPr>
              <a:defRPr sz="3100" b="1">
                <a:solidFill>
                  <a:srgbClr val="F8FAFC"/>
                </a:solidFill>
                <a:latin typeface="Aptos Display"/>
              </a:defRPr>
            </a:pPr>
            <a:r>
              <a:t>Why this matters</a:t>
            </a:r>
          </a:p>
        </p:txBody>
      </p:sp>
      <p:sp>
        <p:nvSpPr>
          <p:cNvPr id="6" name="TextBox 5"/>
          <p:cNvSpPr txBox="1"/>
          <p:nvPr/>
        </p:nvSpPr>
        <p:spPr>
          <a:xfrm>
            <a:off x="868680" y="1645920"/>
            <a:ext cx="5943600" cy="2148840"/>
          </a:xfrm>
          <a:prstGeom prst="rect">
            <a:avLst/>
          </a:prstGeom>
          <a:noFill/>
        </p:spPr>
        <p:txBody>
          <a:bodyPr wrap="square">
            <a:spAutoFit/>
          </a:bodyPr>
          <a:lstStyle/>
          <a:p>
            <a:pPr>
              <a:spcAft>
                <a:spcPts val="1000"/>
              </a:spcAft>
              <a:defRPr sz="1700">
                <a:solidFill>
                  <a:srgbClr val="E1EBF7"/>
                </a:solidFill>
                <a:latin typeface="Aptos"/>
              </a:defRPr>
            </a:pPr>
            <a:r>
              <a:t>•  Faster investigation of slow queries</a:t>
            </a:r>
          </a:p>
          <a:p>
            <a:pPr>
              <a:spcAft>
                <a:spcPts val="1000"/>
              </a:spcAft>
              <a:defRPr sz="1700">
                <a:solidFill>
                  <a:srgbClr val="E1EBF7"/>
                </a:solidFill>
                <a:latin typeface="Aptos"/>
              </a:defRPr>
            </a:pPr>
            <a:r>
              <a:t>•  Evidence-based optimization decisions</a:t>
            </a:r>
          </a:p>
          <a:p>
            <a:pPr>
              <a:spcAft>
                <a:spcPts val="1000"/>
              </a:spcAft>
              <a:defRPr sz="1700">
                <a:solidFill>
                  <a:srgbClr val="E1EBF7"/>
                </a:solidFill>
                <a:latin typeface="Aptos"/>
              </a:defRPr>
            </a:pPr>
            <a:r>
              <a:t>•  Explainable SQL changes for engineering review</a:t>
            </a:r>
          </a:p>
        </p:txBody>
      </p:sp>
      <p:sp>
        <p:nvSpPr>
          <p:cNvPr id="7" name="Rounded Rectangle 6"/>
          <p:cNvSpPr/>
          <p:nvPr/>
        </p:nvSpPr>
        <p:spPr>
          <a:xfrm>
            <a:off x="822960" y="4160520"/>
            <a:ext cx="5623560" cy="1170432"/>
          </a:xfrm>
          <a:prstGeom prst="roundRect">
            <a:avLst/>
          </a:prstGeom>
          <a:solidFill>
            <a:srgbClr val="23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407408"/>
            <a:ext cx="5442131" cy="784830"/>
          </a:xfrm>
          <a:prstGeom prst="rect">
            <a:avLst/>
          </a:prstGeom>
          <a:noFill/>
        </p:spPr>
        <p:txBody>
          <a:bodyPr wrap="none">
            <a:spAutoFit/>
          </a:bodyPr>
          <a:lstStyle/>
          <a:p>
            <a:pPr>
              <a:defRPr sz="1500" b="1">
                <a:solidFill>
                  <a:srgbClr val="F8FAFC"/>
                </a:solidFill>
                <a:latin typeface="Aptos"/>
              </a:defRPr>
            </a:pPr>
            <a:r>
              <a:rPr dirty="0"/>
              <a:t>We are not replacing the engineer.</a:t>
            </a:r>
            <a:br>
              <a:rPr dirty="0"/>
            </a:br>
            <a:r>
              <a:rPr dirty="0"/>
              <a:t>We are making optimization faster, measurable and easier to</a:t>
            </a:r>
            <a:endParaRPr lang="en-US" dirty="0"/>
          </a:p>
          <a:p>
            <a:pPr>
              <a:defRPr sz="1500" b="1">
                <a:solidFill>
                  <a:srgbClr val="F8FAFC"/>
                </a:solidFill>
                <a:latin typeface="Aptos"/>
              </a:defRPr>
            </a:pPr>
            <a:r>
              <a:rPr dirty="0"/>
              <a:t> validate.</a:t>
            </a:r>
          </a:p>
        </p:txBody>
      </p:sp>
      <p:sp>
        <p:nvSpPr>
          <p:cNvPr id="9" name="TextBox 8"/>
          <p:cNvSpPr txBox="1"/>
          <p:nvPr/>
        </p:nvSpPr>
        <p:spPr>
          <a:xfrm>
            <a:off x="868680" y="5806440"/>
            <a:ext cx="5852160" cy="548640"/>
          </a:xfrm>
          <a:prstGeom prst="rect">
            <a:avLst/>
          </a:prstGeom>
          <a:noFill/>
        </p:spPr>
        <p:txBody>
          <a:bodyPr wrap="none">
            <a:spAutoFit/>
          </a:bodyPr>
          <a:lstStyle/>
          <a:p>
            <a:pPr>
              <a:defRPr sz="2400" b="1">
                <a:solidFill>
                  <a:srgbClr val="28B5C1"/>
                </a:solidFill>
                <a:latin typeface="Aptos Display"/>
              </a:defRPr>
            </a:pPr>
            <a:r>
              <a:t>Questions?</a:t>
            </a:r>
          </a:p>
        </p:txBody>
      </p:sp>
      <p:sp>
        <p:nvSpPr>
          <p:cNvPr id="10" name="Rectangle 9"/>
          <p:cNvSpPr/>
          <p:nvPr/>
        </p:nvSpPr>
        <p:spPr>
          <a:xfrm>
            <a:off x="640080" y="6473952"/>
            <a:ext cx="10927080" cy="9144"/>
          </a:xfrm>
          <a:prstGeom prst="rect">
            <a:avLst/>
          </a:prstGeom>
          <a:solidFill>
            <a:srgbClr val="4B5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6519672"/>
            <a:ext cx="10789920" cy="201168"/>
          </a:xfrm>
          <a:prstGeom prst="rect">
            <a:avLst/>
          </a:prstGeom>
          <a:noFill/>
        </p:spPr>
        <p:txBody>
          <a:bodyPr wrap="none">
            <a:spAutoFit/>
          </a:bodyPr>
          <a:lstStyle/>
          <a:p>
            <a:pPr>
              <a:defRPr sz="850">
                <a:solidFill>
                  <a:srgbClr val="A0B1C9"/>
                </a:solidFill>
                <a:latin typeface="Aptos"/>
              </a:defRPr>
            </a:pPr>
            <a:r>
              <a:t>The Data Minds  •  SQL Optimization Workbench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7ac2c6f-986a-4635-a609-64810d09404a}" enabled="1" method="Standard" siteId="{b9c63541-88af-46e2-bb43-356873573053}" contentBits="0" removed="0"/>
</clbl:labelList>
</file>

<file path=docProps/app.xml><?xml version="1.0" encoding="utf-8"?>
<Properties xmlns="http://schemas.openxmlformats.org/officeDocument/2006/extended-properties" xmlns:vt="http://schemas.openxmlformats.org/officeDocument/2006/docPropsVTypes">
  <TotalTime>1083</TotalTime>
  <Words>704</Words>
  <Application>Microsoft Office PowerPoint</Application>
  <PresentationFormat>Widescreen</PresentationFormat>
  <Paragraphs>88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Barbra Mathonsi</cp:lastModifiedBy>
  <cp:revision>2</cp:revision>
  <dcterms:created xsi:type="dcterms:W3CDTF">2013-01-27T09:14:16Z</dcterms:created>
  <dcterms:modified xsi:type="dcterms:W3CDTF">2026-10-07T06:49:16Z</dcterms:modified>
  <cp:category/>
</cp:coreProperties>
</file>